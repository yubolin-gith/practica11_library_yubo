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DM Sans Semi Bold" panose="020B0604020202020204" charset="0"/>
      <p:regular r:id="rId21"/>
    </p:embeddedFont>
    <p:embeddedFont>
      <p:font typeface="Inter Medium" panose="020B0604020202020204" charset="0"/>
      <p:regular r:id="rId22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92" autoAdjust="0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874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yubo.lin@educa.jcyl.e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968573"/>
            <a:ext cx="1219200" cy="792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10121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PROYECTO SGE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2900720"/>
            <a:ext cx="5477113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Práctica 11 Módulo ODOO</a:t>
            </a:r>
            <a:endParaRPr lang="en-US" sz="3550" dirty="0"/>
          </a:p>
        </p:txBody>
      </p:sp>
      <p:sp>
        <p:nvSpPr>
          <p:cNvPr id="5" name="Text 2"/>
          <p:cNvSpPr/>
          <p:nvPr/>
        </p:nvSpPr>
        <p:spPr>
          <a:xfrm>
            <a:off x="793790" y="380785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CFGS Desarrollo de Aplicaciones Multiplataforma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442591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Informática y Comunicaciones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93790" y="504396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Año: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2025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566201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Fecha de presentación: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28/12/2025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628007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Nombre y Apellidos: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Yubo Lin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793790" y="689812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Email:</a:t>
            </a: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</a:t>
            </a:r>
            <a:r>
              <a:rPr lang="en-US" sz="1750" u="sng" dirty="0">
                <a:solidFill>
                  <a:srgbClr val="1C977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yubo.lin@educa.jcyl.es</a:t>
            </a:r>
            <a:endParaRPr lang="en-US" sz="175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E57511B-975F-4A3A-AEBB-7B33291132AD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280190" y="1579721"/>
            <a:ext cx="1690330" cy="426244"/>
          </a:xfrm>
          <a:prstGeom prst="roundRect">
            <a:avLst>
              <a:gd name="adj" fmla="val 6386"/>
            </a:avLst>
          </a:prstGeom>
          <a:solidFill>
            <a:srgbClr val="D4F7EC"/>
          </a:solidFill>
          <a:ln/>
        </p:spPr>
      </p:sp>
      <p:sp>
        <p:nvSpPr>
          <p:cNvPr id="4" name="Text 1"/>
          <p:cNvSpPr/>
          <p:nvPr/>
        </p:nvSpPr>
        <p:spPr>
          <a:xfrm>
            <a:off x="6416278" y="1647706"/>
            <a:ext cx="1418153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INTRODUCCIÓN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280190" y="209669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Gestión de Biblioteca con Odoo</a:t>
            </a:r>
            <a:endParaRPr lang="en-US" sz="4450" dirty="0"/>
          </a:p>
        </p:txBody>
      </p:sp>
      <p:sp>
        <p:nvSpPr>
          <p:cNvPr id="6" name="Text 3"/>
          <p:cNvSpPr/>
          <p:nvPr/>
        </p:nvSpPr>
        <p:spPr>
          <a:xfrm>
            <a:off x="6280190" y="3854410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Este proyecto desarrolla un módulo personalizado para Odoo, "Library Yubo", enfocado en la gestión integral de una biblioteca. Permite administrar recursos como libros, autores, géneros y usuarios (socios).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6280190" y="5561171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 realiza dentro del módulo de Sistemas de Gestión Empresarial (SGE) para adquirir experiencia en desarrollo para Odoo, uso de su ORM y creación de servicios API REST.</a:t>
            </a:r>
            <a:endParaRPr lang="en-US" sz="175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B15FB58-647B-4DC4-ADFE-980A5D8AEDF6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612231" y="409575"/>
            <a:ext cx="1253966" cy="279321"/>
          </a:xfrm>
          <a:prstGeom prst="roundRect">
            <a:avLst>
              <a:gd name="adj" fmla="val 6389"/>
            </a:avLst>
          </a:prstGeom>
          <a:solidFill>
            <a:srgbClr val="D4F7EC"/>
          </a:solidFill>
          <a:ln/>
        </p:spPr>
      </p:sp>
      <p:sp>
        <p:nvSpPr>
          <p:cNvPr id="3" name="Text 1"/>
          <p:cNvSpPr/>
          <p:nvPr/>
        </p:nvSpPr>
        <p:spPr>
          <a:xfrm>
            <a:off x="2701409" y="454104"/>
            <a:ext cx="1075611" cy="190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ESTADO DEL ARTE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612231" y="748308"/>
            <a:ext cx="5783937" cy="464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¿Qué es un ERP y por qué Odoo?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612231" y="1584722"/>
            <a:ext cx="2230636" cy="278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Definición de ERP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2612231" y="2012275"/>
            <a:ext cx="4521518" cy="951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Un ERP (Enterprise Resource Planning) es un sistema de software integrado que gestiona los procesos de negocio principales (contabilidad, ventas, inventario) en una única plataforma.</a:t>
            </a:r>
            <a:endParaRPr lang="en-US" sz="11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231" y="3131106"/>
            <a:ext cx="4521518" cy="45215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04033" y="1584722"/>
            <a:ext cx="2230636" cy="278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Elección de Odoo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504033" y="2012275"/>
            <a:ext cx="4521518" cy="71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Odoo es el ERP de código abierto líder en el mercado. Su arquitectura modular basada en Python y PostgreSQL ofrece gran flexibilidad para soluciones personalizadas.</a:t>
            </a:r>
            <a:endParaRPr lang="en-US" sz="11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33" y="2893219"/>
            <a:ext cx="4521518" cy="4521517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77C5ACA0-9F4B-484F-AF6E-30521956CBA9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63153" y="576263"/>
            <a:ext cx="1395055" cy="248603"/>
          </a:xfrm>
          <a:prstGeom prst="roundRect">
            <a:avLst>
              <a:gd name="adj" fmla="val 6388"/>
            </a:avLst>
          </a:prstGeom>
          <a:solidFill>
            <a:srgbClr val="D4F7EC"/>
          </a:solidFill>
          <a:ln/>
        </p:spPr>
      </p:sp>
      <p:sp>
        <p:nvSpPr>
          <p:cNvPr id="4" name="Text 1"/>
          <p:cNvSpPr/>
          <p:nvPr/>
        </p:nvSpPr>
        <p:spPr>
          <a:xfrm>
            <a:off x="542449" y="615910"/>
            <a:ext cx="1236464" cy="169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DESCRIPCIÓN GENERAL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63153" y="877729"/>
            <a:ext cx="4901803" cy="413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Objetivos y Entorno de Trabajo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63153" y="1688187"/>
            <a:ext cx="8217694" cy="976074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463153" y="1672947"/>
            <a:ext cx="8217694" cy="60960"/>
          </a:xfrm>
          <a:prstGeom prst="roundRect">
            <a:avLst>
              <a:gd name="adj" fmla="val 32566"/>
            </a:avLst>
          </a:prstGeom>
          <a:solidFill>
            <a:srgbClr val="1C9770"/>
          </a:solidFill>
          <a:ln/>
        </p:spPr>
      </p:sp>
      <p:sp>
        <p:nvSpPr>
          <p:cNvPr id="8" name="Shape 5"/>
          <p:cNvSpPr/>
          <p:nvPr/>
        </p:nvSpPr>
        <p:spPr>
          <a:xfrm>
            <a:off x="4373523" y="1489710"/>
            <a:ext cx="396954" cy="396954"/>
          </a:xfrm>
          <a:prstGeom prst="roundRect">
            <a:avLst>
              <a:gd name="adj" fmla="val 230354"/>
            </a:avLst>
          </a:prstGeom>
          <a:solidFill>
            <a:srgbClr val="1C9770"/>
          </a:solidFill>
          <a:ln/>
        </p:spPr>
      </p:sp>
      <p:sp>
        <p:nvSpPr>
          <p:cNvPr id="9" name="Text 6"/>
          <p:cNvSpPr/>
          <p:nvPr/>
        </p:nvSpPr>
        <p:spPr>
          <a:xfrm>
            <a:off x="4492585" y="1588889"/>
            <a:ext cx="158710" cy="198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1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10672" y="2018943"/>
            <a:ext cx="1654254" cy="2066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Módulo Instalable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0672" y="2304931"/>
            <a:ext cx="7922657" cy="211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Crear un módulo Odoo con 5 modelos de datos relacionados.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3153" y="2995017"/>
            <a:ext cx="8217694" cy="976074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63153" y="2979777"/>
            <a:ext cx="8217694" cy="60960"/>
          </a:xfrm>
          <a:prstGeom prst="roundRect">
            <a:avLst>
              <a:gd name="adj" fmla="val 32566"/>
            </a:avLst>
          </a:prstGeom>
          <a:solidFill>
            <a:srgbClr val="1C9770"/>
          </a:solidFill>
          <a:ln/>
        </p:spPr>
      </p:sp>
      <p:sp>
        <p:nvSpPr>
          <p:cNvPr id="14" name="Shape 11"/>
          <p:cNvSpPr/>
          <p:nvPr/>
        </p:nvSpPr>
        <p:spPr>
          <a:xfrm>
            <a:off x="4373523" y="2796540"/>
            <a:ext cx="396954" cy="396954"/>
          </a:xfrm>
          <a:prstGeom prst="roundRect">
            <a:avLst>
              <a:gd name="adj" fmla="val 230354"/>
            </a:avLst>
          </a:prstGeom>
          <a:solidFill>
            <a:srgbClr val="1C9770"/>
          </a:solidFill>
          <a:ln/>
        </p:spPr>
      </p:sp>
      <p:sp>
        <p:nvSpPr>
          <p:cNvPr id="15" name="Text 12"/>
          <p:cNvSpPr/>
          <p:nvPr/>
        </p:nvSpPr>
        <p:spPr>
          <a:xfrm>
            <a:off x="4492585" y="2895719"/>
            <a:ext cx="158710" cy="198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2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10672" y="3325773"/>
            <a:ext cx="1654254" cy="2066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Vistas Avanzadas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10672" y="3611761"/>
            <a:ext cx="7922657" cy="211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Implementar vistas Kanban, Tree y Form.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3153" y="4301847"/>
            <a:ext cx="8217694" cy="976074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19" name="Shape 16"/>
          <p:cNvSpPr/>
          <p:nvPr/>
        </p:nvSpPr>
        <p:spPr>
          <a:xfrm>
            <a:off x="463153" y="4286607"/>
            <a:ext cx="8217694" cy="60960"/>
          </a:xfrm>
          <a:prstGeom prst="roundRect">
            <a:avLst>
              <a:gd name="adj" fmla="val 32566"/>
            </a:avLst>
          </a:prstGeom>
          <a:solidFill>
            <a:srgbClr val="1C9770"/>
          </a:solidFill>
          <a:ln/>
        </p:spPr>
      </p:sp>
      <p:sp>
        <p:nvSpPr>
          <p:cNvPr id="20" name="Shape 17"/>
          <p:cNvSpPr/>
          <p:nvPr/>
        </p:nvSpPr>
        <p:spPr>
          <a:xfrm>
            <a:off x="4373523" y="4103370"/>
            <a:ext cx="396954" cy="396954"/>
          </a:xfrm>
          <a:prstGeom prst="roundRect">
            <a:avLst>
              <a:gd name="adj" fmla="val 230354"/>
            </a:avLst>
          </a:prstGeom>
          <a:solidFill>
            <a:srgbClr val="1C9770"/>
          </a:solidFill>
          <a:ln/>
        </p:spPr>
      </p:sp>
      <p:sp>
        <p:nvSpPr>
          <p:cNvPr id="21" name="Text 18"/>
          <p:cNvSpPr/>
          <p:nvPr/>
        </p:nvSpPr>
        <p:spPr>
          <a:xfrm>
            <a:off x="4492585" y="4202549"/>
            <a:ext cx="158710" cy="198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3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10672" y="4632603"/>
            <a:ext cx="1654254" cy="2066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Lógica de Negocio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10672" y="4918591"/>
            <a:ext cx="7922657" cy="211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Automatizar cálculos de fechas e IDs.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63153" y="5608677"/>
            <a:ext cx="8217694" cy="976074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25" name="Shape 22"/>
          <p:cNvSpPr/>
          <p:nvPr/>
        </p:nvSpPr>
        <p:spPr>
          <a:xfrm>
            <a:off x="463153" y="5593437"/>
            <a:ext cx="8217694" cy="60960"/>
          </a:xfrm>
          <a:prstGeom prst="roundRect">
            <a:avLst>
              <a:gd name="adj" fmla="val 32566"/>
            </a:avLst>
          </a:prstGeom>
          <a:solidFill>
            <a:srgbClr val="1C9770"/>
          </a:solidFill>
          <a:ln/>
        </p:spPr>
      </p:sp>
      <p:sp>
        <p:nvSpPr>
          <p:cNvPr id="26" name="Shape 23"/>
          <p:cNvSpPr/>
          <p:nvPr/>
        </p:nvSpPr>
        <p:spPr>
          <a:xfrm>
            <a:off x="4373523" y="5410200"/>
            <a:ext cx="396954" cy="396954"/>
          </a:xfrm>
          <a:prstGeom prst="roundRect">
            <a:avLst>
              <a:gd name="adj" fmla="val 230354"/>
            </a:avLst>
          </a:prstGeom>
          <a:solidFill>
            <a:srgbClr val="1C9770"/>
          </a:solidFill>
          <a:ln/>
        </p:spPr>
      </p:sp>
      <p:sp>
        <p:nvSpPr>
          <p:cNvPr id="27" name="Text 24"/>
          <p:cNvSpPr/>
          <p:nvPr/>
        </p:nvSpPr>
        <p:spPr>
          <a:xfrm>
            <a:off x="4492585" y="5509379"/>
            <a:ext cx="158710" cy="198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610672" y="5939433"/>
            <a:ext cx="1654254" cy="2066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Interfaz API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10672" y="6225421"/>
            <a:ext cx="7922657" cy="211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Desarrollar una API para conexión externa.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3153" y="6783229"/>
            <a:ext cx="20677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Entorno de Desarrollo</a:t>
            </a:r>
            <a:endParaRPr lang="en-US" sz="1550" dirty="0"/>
          </a:p>
        </p:txBody>
      </p:sp>
      <p:sp>
        <p:nvSpPr>
          <p:cNvPr id="31" name="Text 28"/>
          <p:cNvSpPr/>
          <p:nvPr/>
        </p:nvSpPr>
        <p:spPr>
          <a:xfrm>
            <a:off x="463153" y="7229713"/>
            <a:ext cx="8217694" cy="42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 utilizó Docker para contenerización de Odoo y PostgreSQL, Visual Studio Code como IDE, y Postman/navegador para pruebas de API.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04925" y="671870"/>
            <a:ext cx="2310289" cy="357068"/>
          </a:xfrm>
          <a:prstGeom prst="roundRect">
            <a:avLst>
              <a:gd name="adj" fmla="val 6387"/>
            </a:avLst>
          </a:prstGeom>
          <a:solidFill>
            <a:srgbClr val="D4F7EC"/>
          </a:solidFill>
          <a:ln/>
        </p:spPr>
      </p:sp>
      <p:sp>
        <p:nvSpPr>
          <p:cNvPr id="3" name="Text 1"/>
          <p:cNvSpPr/>
          <p:nvPr/>
        </p:nvSpPr>
        <p:spPr>
          <a:xfrm>
            <a:off x="1418868" y="728782"/>
            <a:ext cx="2082403" cy="243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DOCUMENTACIÓN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1304925" y="1104900"/>
            <a:ext cx="11192470" cy="593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Análisis del Sistema y Diseño de la Base de Datos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1304925" y="217384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Análisis del Sistema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04925" y="2720102"/>
            <a:ext cx="5778460" cy="1231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El sistema sigue una arquitectura Modelo-Vista-Controlador. Los usuarios del grupo "Library / User" tienen permisos ACL definidos en </a:t>
            </a:r>
            <a:r>
              <a:rPr lang="en-US" sz="1450" dirty="0">
                <a:solidFill>
                  <a:srgbClr val="464646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ir.model.access.csv</a:t>
            </a:r>
            <a:r>
              <a:rPr lang="en-US" sz="14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para gestionar registros en los modelos principales.</a:t>
            </a:r>
            <a:endParaRPr lang="en-US" sz="14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925" y="4164925"/>
            <a:ext cx="5778460" cy="3179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54635" y="2173843"/>
            <a:ext cx="36864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Diseño de la Base de Datos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554635" y="2720102"/>
            <a:ext cx="5778460" cy="911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El diagrama ER muestra las relaciones entre Autor, Libro, Género, Préstamo y Socio, incluyendo una relación transitiva entre Autor y Libro.</a:t>
            </a:r>
            <a:endParaRPr lang="en-US" sz="14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4635" y="3845719"/>
            <a:ext cx="693420" cy="457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D43981C4-1C9B-48ED-9740-9243F637D5EC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65697" y="482560"/>
            <a:ext cx="1477685" cy="329803"/>
          </a:xfrm>
          <a:prstGeom prst="roundRect">
            <a:avLst>
              <a:gd name="adj" fmla="val 6385"/>
            </a:avLst>
          </a:prstGeom>
          <a:solidFill>
            <a:srgbClr val="D4F7EC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3" name="Text 1"/>
          <p:cNvSpPr/>
          <p:nvPr/>
        </p:nvSpPr>
        <p:spPr>
          <a:xfrm>
            <a:off x="1870948" y="535186"/>
            <a:ext cx="1267182" cy="22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IMPLEMENTACIÓN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765697" y="882491"/>
            <a:ext cx="6944797" cy="548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Estructura del Módulo y Modelos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1765697" y="1694021"/>
            <a:ext cx="5461754" cy="5297210"/>
          </a:xfrm>
          <a:prstGeom prst="roundRect">
            <a:avLst>
              <a:gd name="adj" fmla="val 497"/>
            </a:avLst>
          </a:prstGeom>
          <a:solidFill>
            <a:srgbClr val="F2EEEE"/>
          </a:solidFill>
          <a:ln/>
        </p:spPr>
      </p:sp>
      <p:sp>
        <p:nvSpPr>
          <p:cNvPr id="6" name="Text 4"/>
          <p:cNvSpPr/>
          <p:nvPr/>
        </p:nvSpPr>
        <p:spPr>
          <a:xfrm>
            <a:off x="1941076" y="1869400"/>
            <a:ext cx="2193369" cy="274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Scaffold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941076" y="2248733"/>
            <a:ext cx="5110996" cy="561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Generación automática de la estructura de directorios para el módulo, asegurando el reconocimiento por Odoo.</a:t>
            </a:r>
            <a:endParaRPr lang="en-US" sz="13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076" y="3007638"/>
            <a:ext cx="2133600" cy="19735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02830" y="1694021"/>
            <a:ext cx="5461873" cy="5297210"/>
          </a:xfrm>
          <a:prstGeom prst="roundRect">
            <a:avLst>
              <a:gd name="adj" fmla="val 497"/>
            </a:avLst>
          </a:prstGeom>
          <a:solidFill>
            <a:srgbClr val="F2EEEE"/>
          </a:solidFill>
          <a:ln/>
        </p:spPr>
      </p:sp>
      <p:sp>
        <p:nvSpPr>
          <p:cNvPr id="10" name="Text 7"/>
          <p:cNvSpPr/>
          <p:nvPr/>
        </p:nvSpPr>
        <p:spPr>
          <a:xfrm>
            <a:off x="7578209" y="1869400"/>
            <a:ext cx="2193369" cy="274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Modelos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78209" y="2248733"/>
            <a:ext cx="5111115" cy="87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Todos los modelos (Autor, Libro, Género, Préstamo) están definidos en </a:t>
            </a:r>
            <a:r>
              <a:rPr lang="en-US" sz="1350" dirty="0">
                <a:solidFill>
                  <a:srgbClr val="464646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, incluyendo herencia del modelo </a:t>
            </a:r>
            <a:r>
              <a:rPr lang="en-US" sz="1350" dirty="0">
                <a:solidFill>
                  <a:srgbClr val="464646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res.partner</a:t>
            </a: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para socios.</a:t>
            </a:r>
            <a:endParaRPr lang="en-US" sz="13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8209" y="3318867"/>
            <a:ext cx="5111115" cy="349698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765697" y="7188637"/>
            <a:ext cx="11099006" cy="561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 implementaron campos calculados y restricciones en el modelo de préstamos para automatizar la duración, validar fechas y generar referencias únicas.</a:t>
            </a:r>
            <a:endParaRPr lang="en-US" sz="1350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A97935A-EA7C-4BE4-848B-BEB9E616619D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70071" y="421243"/>
            <a:ext cx="1290757" cy="287893"/>
          </a:xfrm>
          <a:prstGeom prst="roundRect">
            <a:avLst>
              <a:gd name="adj" fmla="val 6386"/>
            </a:avLst>
          </a:prstGeom>
          <a:solidFill>
            <a:srgbClr val="D4F7EC"/>
          </a:solidFill>
          <a:ln/>
        </p:spPr>
      </p:sp>
      <p:sp>
        <p:nvSpPr>
          <p:cNvPr id="3" name="Text 1"/>
          <p:cNvSpPr/>
          <p:nvPr/>
        </p:nvSpPr>
        <p:spPr>
          <a:xfrm>
            <a:off x="2561987" y="467201"/>
            <a:ext cx="1106924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IMPLEMENTACIÓN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470071" y="770334"/>
            <a:ext cx="3830003" cy="47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50"/>
              </a:lnSpc>
              <a:buNone/>
            </a:pPr>
            <a:r>
              <a:rPr lang="en-US" sz="30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Vistas y API REST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470071" y="1631990"/>
            <a:ext cx="2298025" cy="287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Vistas XML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470071" y="2072283"/>
            <a:ext cx="4658201" cy="750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Cada modelo (autor, libro, género, préstamo, socio) tiene su propio archivo XML en la carpeta </a:t>
            </a:r>
            <a:r>
              <a:rPr lang="en-US" sz="1200" dirty="0">
                <a:solidFill>
                  <a:srgbClr val="464646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views</a:t>
            </a:r>
            <a:r>
              <a:rPr lang="en-US" sz="12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, definiendo las vistas Tree, Form y Kanban.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0071" y="2995255"/>
            <a:ext cx="3329940" cy="14401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09510" y="1631990"/>
            <a:ext cx="2298025" cy="287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API REST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509510" y="2072283"/>
            <a:ext cx="4658201" cy="750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 implementó una API para listar todos los libros, accesible en </a:t>
            </a:r>
            <a:r>
              <a:rPr lang="en-US" sz="1200" dirty="0">
                <a:solidFill>
                  <a:srgbClr val="464646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http://localhost:8069/api/books</a:t>
            </a:r>
            <a:r>
              <a:rPr lang="en-US" sz="12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, devolviendo datos en formato JSON.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509510" y="2995255"/>
            <a:ext cx="4658201" cy="4642485"/>
          </a:xfrm>
          <a:prstGeom prst="roundRect">
            <a:avLst>
              <a:gd name="adj" fmla="val 495"/>
            </a:avLst>
          </a:prstGeom>
          <a:solidFill>
            <a:srgbClr val="F2F2F2"/>
          </a:solidFill>
          <a:ln/>
        </p:spPr>
      </p:sp>
      <p:sp>
        <p:nvSpPr>
          <p:cNvPr id="11" name="Shape 8"/>
          <p:cNvSpPr/>
          <p:nvPr/>
        </p:nvSpPr>
        <p:spPr>
          <a:xfrm>
            <a:off x="7501890" y="2995255"/>
            <a:ext cx="4673441" cy="4642485"/>
          </a:xfrm>
          <a:prstGeom prst="roundRect">
            <a:avLst>
              <a:gd name="adj" fmla="val 495"/>
            </a:avLst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7655004" y="3110151"/>
            <a:ext cx="4367213" cy="441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464646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 Medium" pitchFamily="34" charset="-122"/>
                <a:cs typeface="Arial" panose="020B0604020202020204" pitchFamily="34" charset="0"/>
              </a:rPr>
              <a:t>{
 "status": 200,
 "data": [
 {
 "id": 1,
 "title": "libro1",
 "author": "Autor1",
 "state": "borrowed"
 },
 {
 "id": 2,
 "title": "Libro2",
 "author": "Autor2",
 "state": "available"
 }
 ]
}
</a:t>
            </a:r>
            <a:endParaRPr lang="en-US" sz="1200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DDC0323-97F9-4357-B5E6-2D6D6490691C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016198"/>
            <a:ext cx="3129082" cy="426244"/>
          </a:xfrm>
          <a:prstGeom prst="roundRect">
            <a:avLst>
              <a:gd name="adj" fmla="val 6386"/>
            </a:avLst>
          </a:prstGeom>
          <a:solidFill>
            <a:srgbClr val="D4F7EC"/>
          </a:solidFill>
          <a:ln/>
        </p:spPr>
      </p:sp>
      <p:sp>
        <p:nvSpPr>
          <p:cNvPr id="3" name="Text 1"/>
          <p:cNvSpPr/>
          <p:nvPr/>
        </p:nvSpPr>
        <p:spPr>
          <a:xfrm>
            <a:off x="929878" y="1084183"/>
            <a:ext cx="285690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PRUEBAS DE FUNCIONAMIENTO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93790" y="1533168"/>
            <a:ext cx="756856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Interfaz de Usuario en Odoo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93790" y="258210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La aplicación "library_yubo" ofrece una interfaz intuitiva para gestionar libros, préstamos, autores, géneros y socios.</a:t>
            </a:r>
            <a:endParaRPr lang="en-US" sz="1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200162"/>
            <a:ext cx="4158615" cy="25702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3790" y="599717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Listado de Libros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93790" y="6487597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Vista detallada de libros con su título, autor y estado (prestado/disponible).</a:t>
            </a:r>
            <a:endParaRPr lang="en-US" sz="17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893" y="3200162"/>
            <a:ext cx="4158615" cy="25702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35893" y="5997178"/>
            <a:ext cx="311884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Vista Kanban de Libros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5235893" y="6487597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Representación visual de los libros en formato Kanban para una gestión ágil.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995" y="3200162"/>
            <a:ext cx="4158615" cy="25702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77995" y="5997178"/>
            <a:ext cx="301144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Gestión de Préstamos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677995" y="6487597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Registro y seguimiento de préstamos, incluyendo fechas y duración.</a:t>
            </a:r>
            <a:endParaRPr lang="en-US" sz="1750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FCE8472-ADC3-4989-BC06-88169B418D9B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28442" y="311825"/>
            <a:ext cx="1108591" cy="213003"/>
          </a:xfrm>
          <a:prstGeom prst="roundRect">
            <a:avLst>
              <a:gd name="adj" fmla="val 6389"/>
            </a:avLst>
          </a:prstGeom>
          <a:solidFill>
            <a:srgbClr val="D4F7EC"/>
          </a:solidFill>
          <a:ln/>
        </p:spPr>
      </p:sp>
      <p:sp>
        <p:nvSpPr>
          <p:cNvPr id="3" name="Text 1"/>
          <p:cNvSpPr/>
          <p:nvPr/>
        </p:nvSpPr>
        <p:spPr>
          <a:xfrm>
            <a:off x="3796427" y="345758"/>
            <a:ext cx="972622" cy="145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MANUAL DE USUARIO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728442" y="570190"/>
            <a:ext cx="298704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Creación de Registros</a:t>
            </a:r>
            <a:endParaRPr lang="en-US" sz="2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442" y="1094542"/>
            <a:ext cx="340162" cy="1143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81951" y="1207889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Crear Socio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181951" y="1453039"/>
            <a:ext cx="6719888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En "Management", selecciona "Socios" y haz clic en "Nuevo" para añadir un nuevo miembro.</a:t>
            </a:r>
            <a:endParaRPr lang="en-US" sz="8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951" y="1762006"/>
            <a:ext cx="3611880" cy="2133600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8463" y="4122301"/>
            <a:ext cx="340162" cy="1143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51973" y="4235648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Añadir Género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4351973" y="4480798"/>
            <a:ext cx="6549866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Selecciona "Géneros" y "Nuevo" para introducir nuevas categorías de libros.</a:t>
            </a:r>
            <a:endParaRPr lang="en-US" sz="8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1973" y="4789765"/>
            <a:ext cx="3108960" cy="2308860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8604" y="7325320"/>
            <a:ext cx="340162" cy="11430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522113" y="7438668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Registrar Autor</a:t>
            </a:r>
            <a:endParaRPr lang="en-US" sz="1100" dirty="0"/>
          </a:p>
        </p:txBody>
      </p:sp>
      <p:sp>
        <p:nvSpPr>
          <p:cNvPr id="15" name="Text 8"/>
          <p:cNvSpPr/>
          <p:nvPr/>
        </p:nvSpPr>
        <p:spPr>
          <a:xfrm>
            <a:off x="4522113" y="7683818"/>
            <a:ext cx="6379726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En "Autores", haz clic en "Nuevo" y rellena los datos del autor.</a:t>
            </a:r>
            <a:endParaRPr lang="en-US" sz="85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2113" y="7992785"/>
            <a:ext cx="198120" cy="190500"/>
          </a:xfrm>
          <a:prstGeom prst="rect">
            <a:avLst/>
          </a:prstGeom>
        </p:spPr>
      </p:pic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8744" y="8409980"/>
            <a:ext cx="340162" cy="114300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4692253" y="8523327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Crear Libro</a:t>
            </a:r>
            <a:endParaRPr lang="en-US" sz="1100" dirty="0"/>
          </a:p>
        </p:txBody>
      </p:sp>
      <p:sp>
        <p:nvSpPr>
          <p:cNvPr id="19" name="Text 10"/>
          <p:cNvSpPr/>
          <p:nvPr/>
        </p:nvSpPr>
        <p:spPr>
          <a:xfrm>
            <a:off x="4692253" y="8768477"/>
            <a:ext cx="6209586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En "Listado de Libro", haz clic en "Nuevo" y rellena título, estado, autor y género.</a:t>
            </a:r>
            <a:endParaRPr lang="en-US" sz="8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253" y="9077444"/>
            <a:ext cx="167640" cy="152400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604" y="9456539"/>
            <a:ext cx="340162" cy="11430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4522113" y="9569887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Gestionar Préstamo</a:t>
            </a:r>
            <a:endParaRPr lang="en-US" sz="1100" dirty="0"/>
          </a:p>
        </p:txBody>
      </p:sp>
      <p:sp>
        <p:nvSpPr>
          <p:cNvPr id="23" name="Text 12"/>
          <p:cNvSpPr/>
          <p:nvPr/>
        </p:nvSpPr>
        <p:spPr>
          <a:xfrm>
            <a:off x="4522113" y="9815036"/>
            <a:ext cx="6379726" cy="181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En "Préstamos", selecciona "Nuevo", elige libro y socio; la duración se calcula automáticamente.</a:t>
            </a:r>
            <a:endParaRPr lang="en-US" sz="8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2113" y="10124003"/>
            <a:ext cx="6377940" cy="998220"/>
          </a:xfrm>
          <a:prstGeom prst="rect">
            <a:avLst/>
          </a:prstGeom>
        </p:spPr>
      </p:pic>
      <p:sp>
        <p:nvSpPr>
          <p:cNvPr id="25" name="Rectángulo 24">
            <a:extLst>
              <a:ext uri="{FF2B5EF4-FFF2-40B4-BE49-F238E27FC236}">
                <a16:creationId xmlns:a16="http://schemas.microsoft.com/office/drawing/2014/main" id="{D94AA470-B48C-4C96-9EAD-450CE9ED3A40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58328" y="476131"/>
            <a:ext cx="1308973" cy="324088"/>
          </a:xfrm>
          <a:prstGeom prst="roundRect">
            <a:avLst>
              <a:gd name="adj" fmla="val 6389"/>
            </a:avLst>
          </a:prstGeom>
          <a:solidFill>
            <a:srgbClr val="D4F7EC"/>
          </a:solidFill>
          <a:ln/>
        </p:spPr>
      </p:sp>
      <p:sp>
        <p:nvSpPr>
          <p:cNvPr id="3" name="Text 1"/>
          <p:cNvSpPr/>
          <p:nvPr/>
        </p:nvSpPr>
        <p:spPr>
          <a:xfrm>
            <a:off x="1961793" y="527804"/>
            <a:ext cx="1102043" cy="2207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CONCLUSIONES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858328" y="869156"/>
            <a:ext cx="7681793" cy="539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350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Aprendizajes y Futuras Ampliaciones</a:t>
            </a:r>
            <a:endParaRPr lang="en-US" sz="3350" dirty="0"/>
          </a:p>
        </p:txBody>
      </p:sp>
      <p:sp>
        <p:nvSpPr>
          <p:cNvPr id="5" name="Text 3"/>
          <p:cNvSpPr/>
          <p:nvPr/>
        </p:nvSpPr>
        <p:spPr>
          <a:xfrm>
            <a:off x="1858328" y="1666994"/>
            <a:ext cx="10913745" cy="551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El proyecto ha permitido profundizar en el funcionamiento interno de Odoo, cumpliendo los requisitos de ORM avanzado, campos computados, herencia de vistas y API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858328" y="2413040"/>
            <a:ext cx="5370552" cy="4870252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35468" y="2413040"/>
            <a:ext cx="91440" cy="4870252"/>
          </a:xfrm>
          <a:prstGeom prst="roundRect">
            <a:avLst>
              <a:gd name="adj" fmla="val 28305"/>
            </a:avLst>
          </a:prstGeom>
          <a:solidFill>
            <a:srgbClr val="1C9770"/>
          </a:solidFill>
          <a:ln/>
        </p:spPr>
      </p:sp>
      <p:sp>
        <p:nvSpPr>
          <p:cNvPr id="8" name="Text 6"/>
          <p:cNvSpPr/>
          <p:nvPr/>
        </p:nvSpPr>
        <p:spPr>
          <a:xfrm>
            <a:off x="2122289" y="2608421"/>
            <a:ext cx="2156817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Despliegue Local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2122289" y="2981563"/>
            <a:ext cx="4911209" cy="551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El despliegue se realizó en un servidor local utilizando Docker para Odoo, PostgreSQL y pgAdmin4.</a:t>
            </a:r>
            <a:endParaRPr lang="en-US" sz="13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289" y="3727609"/>
            <a:ext cx="4911209" cy="336030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401401" y="2413040"/>
            <a:ext cx="5370671" cy="4870252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78541" y="2413040"/>
            <a:ext cx="91440" cy="4870252"/>
          </a:xfrm>
          <a:prstGeom prst="roundRect">
            <a:avLst>
              <a:gd name="adj" fmla="val 28305"/>
            </a:avLst>
          </a:prstGeom>
          <a:solidFill>
            <a:srgbClr val="1C9770"/>
          </a:solidFill>
          <a:ln/>
        </p:spPr>
      </p:sp>
      <p:sp>
        <p:nvSpPr>
          <p:cNvPr id="13" name="Text 10"/>
          <p:cNvSpPr/>
          <p:nvPr/>
        </p:nvSpPr>
        <p:spPr>
          <a:xfrm>
            <a:off x="7665363" y="2608421"/>
            <a:ext cx="2877145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Mantenimiento y Expansión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665363" y="2981563"/>
            <a:ext cx="4911328" cy="551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La estructura modular del código facilita su mantenimiento y futuras ampliaciones.</a:t>
            </a:r>
            <a:endParaRPr lang="en-US" sz="13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5363" y="3727609"/>
            <a:ext cx="4911328" cy="336030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58328" y="7477363"/>
            <a:ext cx="10913745" cy="275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Este proyecto sienta las bases para futuras mejoras y funcionalidades en la gestión de bibliotecas con Odoo.</a:t>
            </a:r>
            <a:endParaRPr lang="en-US" sz="1350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77E7925-8D7E-4C41-BE7C-3DBA35A91423}"/>
              </a:ext>
            </a:extLst>
          </p:cNvPr>
          <p:cNvSpPr/>
          <p:nvPr/>
        </p:nvSpPr>
        <p:spPr>
          <a:xfrm>
            <a:off x="12404651" y="7428614"/>
            <a:ext cx="2225749" cy="715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882</Words>
  <Application>Microsoft Office PowerPoint</Application>
  <PresentationFormat>Personalizado</PresentationFormat>
  <Paragraphs>93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Calibri</vt:lpstr>
      <vt:lpstr>Consolas</vt:lpstr>
      <vt:lpstr>DM Sans Semi Bold</vt:lpstr>
      <vt:lpstr>Inter Medium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YUBO LIN</cp:lastModifiedBy>
  <cp:revision>3</cp:revision>
  <dcterms:created xsi:type="dcterms:W3CDTF">2026-01-19T11:33:26Z</dcterms:created>
  <dcterms:modified xsi:type="dcterms:W3CDTF">2026-01-19T12:03:39Z</dcterms:modified>
</cp:coreProperties>
</file>