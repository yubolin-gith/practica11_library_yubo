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6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DM Sans Semi Bold" panose="020B0604020202020204" charset="0"/>
      <p:regular r:id="rId23"/>
    </p:embeddedFont>
    <p:embeddedFont>
      <p:font typeface="Inter Medium" panose="020B0604020202020204" charset="0"/>
      <p:regular r:id="rId24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92" autoAdjust="0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18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874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yubo.lin@educa.jcyl.e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968573"/>
            <a:ext cx="1219200" cy="792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012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PROYECTO SGE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900720"/>
            <a:ext cx="547711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Práctica 11 Módulo ODOO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380785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CFGS Desarrollo de Aplicaciones Multiplataforma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42591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Informática y Comunicaciones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04396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Año: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2025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66201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Fecha de presentación: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28/12/2025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628007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Nombre y Apellidos: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Yubo Lin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89812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Email: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1750" u="sng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yubo.lin@educa.jcyl.es</a:t>
            </a:r>
            <a:endParaRPr lang="en-US" sz="175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E57511B-975F-4A3A-AEBB-7B33291132AD}"/>
              </a:ext>
            </a:extLst>
          </p:cNvPr>
          <p:cNvSpPr/>
          <p:nvPr/>
        </p:nvSpPr>
        <p:spPr>
          <a:xfrm>
            <a:off x="12404651" y="7428614"/>
            <a:ext cx="2225749" cy="7159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1579721"/>
            <a:ext cx="1690330" cy="426244"/>
          </a:xfrm>
          <a:prstGeom prst="roundRect">
            <a:avLst>
              <a:gd name="adj" fmla="val 6386"/>
            </a:avLst>
          </a:prstGeom>
          <a:solidFill>
            <a:srgbClr val="D4F7EC"/>
          </a:solidFill>
          <a:ln/>
        </p:spPr>
      </p:sp>
      <p:sp>
        <p:nvSpPr>
          <p:cNvPr id="4" name="Text 1"/>
          <p:cNvSpPr/>
          <p:nvPr/>
        </p:nvSpPr>
        <p:spPr>
          <a:xfrm>
            <a:off x="6416278" y="1647706"/>
            <a:ext cx="141815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INTRODUCCIÓN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80190" y="209669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Gestión de Biblioteca con Odoo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6280190" y="3854410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Este proyecto desarrolla un módulo personalizado para Odoo, "Library Yubo", enfocado en la gestión integral de una biblioteca. Permite administrar recursos como libros, autores, géneros y usuarios (socios).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561171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 realiza dentro del módulo de Sistemas de Gestión Empresarial (SGE) para adquirir experiencia en desarrollo para Odoo, uso de su ORM y creación de servicios API REST.</a:t>
            </a:r>
            <a:endParaRPr lang="en-US" sz="175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B15FB58-647B-4DC4-ADFE-980A5D8AEDF6}"/>
              </a:ext>
            </a:extLst>
          </p:cNvPr>
          <p:cNvSpPr/>
          <p:nvPr/>
        </p:nvSpPr>
        <p:spPr>
          <a:xfrm>
            <a:off x="12404651" y="7428614"/>
            <a:ext cx="2225749" cy="7159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12231" y="409575"/>
            <a:ext cx="1253966" cy="279321"/>
          </a:xfrm>
          <a:prstGeom prst="roundRect">
            <a:avLst>
              <a:gd name="adj" fmla="val 6389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2701409" y="454104"/>
            <a:ext cx="1075611" cy="190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ESTADO DEL ARTE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612231" y="748308"/>
            <a:ext cx="5783937" cy="464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¿Qué es un ERP y por qué Odoo?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2612231" y="1584722"/>
            <a:ext cx="2230636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Definición de ERP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2612231" y="2012275"/>
            <a:ext cx="4521518" cy="951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 ERP (Enterprise Resource Planning) es un sistema de software integrado que gestiona los procesos de negocio principales (contabilidad, ventas, inventario) en una única plataforma.</a:t>
            </a:r>
            <a:endParaRPr lang="en-US" sz="11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231" y="3131106"/>
            <a:ext cx="4521518" cy="45215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04033" y="1584722"/>
            <a:ext cx="2230636" cy="278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Elección de Odoo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04033" y="2012275"/>
            <a:ext cx="4521518" cy="71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Odoo es el ERP de código abierto líder en el mercado. Su arquitectura modular basada en Python y PostgreSQL ofrece gran flexibilidad para soluciones personalizadas.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4033" y="2893219"/>
            <a:ext cx="4521518" cy="4521517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77C5ACA0-9F4B-484F-AF6E-30521956CBA9}"/>
              </a:ext>
            </a:extLst>
          </p:cNvPr>
          <p:cNvSpPr/>
          <p:nvPr/>
        </p:nvSpPr>
        <p:spPr>
          <a:xfrm>
            <a:off x="12404651" y="7428614"/>
            <a:ext cx="2225749" cy="7159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153" y="576263"/>
            <a:ext cx="1395055" cy="248603"/>
          </a:xfrm>
          <a:prstGeom prst="roundRect">
            <a:avLst>
              <a:gd name="adj" fmla="val 6388"/>
            </a:avLst>
          </a:prstGeom>
          <a:solidFill>
            <a:srgbClr val="D4F7EC"/>
          </a:solidFill>
          <a:ln/>
        </p:spPr>
      </p:sp>
      <p:sp>
        <p:nvSpPr>
          <p:cNvPr id="4" name="Text 1"/>
          <p:cNvSpPr/>
          <p:nvPr/>
        </p:nvSpPr>
        <p:spPr>
          <a:xfrm>
            <a:off x="542449" y="615910"/>
            <a:ext cx="1236464" cy="169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DESCRIPCIÓN GENERAL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63153" y="877729"/>
            <a:ext cx="4901803" cy="413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Objetivos y Entorno de Trabajo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63153" y="1688187"/>
            <a:ext cx="8217694" cy="976074"/>
          </a:xfrm>
          <a:prstGeom prst="roundRect">
            <a:avLst>
              <a:gd name="adj" fmla="val 7495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63153" y="1672947"/>
            <a:ext cx="8217694" cy="60960"/>
          </a:xfrm>
          <a:prstGeom prst="roundRect">
            <a:avLst>
              <a:gd name="adj" fmla="val 32566"/>
            </a:avLst>
          </a:prstGeom>
          <a:solidFill>
            <a:srgbClr val="1C9770"/>
          </a:solidFill>
          <a:ln/>
        </p:spPr>
      </p:sp>
      <p:sp>
        <p:nvSpPr>
          <p:cNvPr id="8" name="Shape 5"/>
          <p:cNvSpPr/>
          <p:nvPr/>
        </p:nvSpPr>
        <p:spPr>
          <a:xfrm>
            <a:off x="4373523" y="1489710"/>
            <a:ext cx="396954" cy="396954"/>
          </a:xfrm>
          <a:prstGeom prst="roundRect">
            <a:avLst>
              <a:gd name="adj" fmla="val 230354"/>
            </a:avLst>
          </a:prstGeom>
          <a:solidFill>
            <a:srgbClr val="1C9770"/>
          </a:solidFill>
          <a:ln/>
        </p:spPr>
      </p:sp>
      <p:sp>
        <p:nvSpPr>
          <p:cNvPr id="9" name="Text 6"/>
          <p:cNvSpPr/>
          <p:nvPr/>
        </p:nvSpPr>
        <p:spPr>
          <a:xfrm>
            <a:off x="4492585" y="1588889"/>
            <a:ext cx="158710" cy="198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10672" y="2018943"/>
            <a:ext cx="1654254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Módulo Instalable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0672" y="2304931"/>
            <a:ext cx="7922657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Crear un módulo Odoo con 5 modelos de datos relacionados.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3153" y="2995017"/>
            <a:ext cx="8217694" cy="976074"/>
          </a:xfrm>
          <a:prstGeom prst="roundRect">
            <a:avLst>
              <a:gd name="adj" fmla="val 7495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63153" y="2979777"/>
            <a:ext cx="8217694" cy="60960"/>
          </a:xfrm>
          <a:prstGeom prst="roundRect">
            <a:avLst>
              <a:gd name="adj" fmla="val 32566"/>
            </a:avLst>
          </a:prstGeom>
          <a:solidFill>
            <a:srgbClr val="1C9770"/>
          </a:solidFill>
          <a:ln/>
        </p:spPr>
      </p:sp>
      <p:sp>
        <p:nvSpPr>
          <p:cNvPr id="14" name="Shape 11"/>
          <p:cNvSpPr/>
          <p:nvPr/>
        </p:nvSpPr>
        <p:spPr>
          <a:xfrm>
            <a:off x="4373523" y="2796540"/>
            <a:ext cx="396954" cy="396954"/>
          </a:xfrm>
          <a:prstGeom prst="roundRect">
            <a:avLst>
              <a:gd name="adj" fmla="val 230354"/>
            </a:avLst>
          </a:prstGeom>
          <a:solidFill>
            <a:srgbClr val="1C9770"/>
          </a:solidFill>
          <a:ln/>
        </p:spPr>
      </p:sp>
      <p:sp>
        <p:nvSpPr>
          <p:cNvPr id="15" name="Text 12"/>
          <p:cNvSpPr/>
          <p:nvPr/>
        </p:nvSpPr>
        <p:spPr>
          <a:xfrm>
            <a:off x="4492585" y="2895719"/>
            <a:ext cx="158710" cy="198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10672" y="3325773"/>
            <a:ext cx="1654254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Vistas Avanzadas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10672" y="3611761"/>
            <a:ext cx="7922657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Implementar vistas Kanban, Tree y Form.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3153" y="4301847"/>
            <a:ext cx="8217694" cy="976074"/>
          </a:xfrm>
          <a:prstGeom prst="roundRect">
            <a:avLst>
              <a:gd name="adj" fmla="val 749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19" name="Shape 16"/>
          <p:cNvSpPr/>
          <p:nvPr/>
        </p:nvSpPr>
        <p:spPr>
          <a:xfrm>
            <a:off x="463153" y="4286607"/>
            <a:ext cx="8217694" cy="60960"/>
          </a:xfrm>
          <a:prstGeom prst="roundRect">
            <a:avLst>
              <a:gd name="adj" fmla="val 32566"/>
            </a:avLst>
          </a:prstGeom>
          <a:solidFill>
            <a:srgbClr val="1C9770"/>
          </a:solidFill>
          <a:ln/>
        </p:spPr>
      </p:sp>
      <p:sp>
        <p:nvSpPr>
          <p:cNvPr id="20" name="Shape 17"/>
          <p:cNvSpPr/>
          <p:nvPr/>
        </p:nvSpPr>
        <p:spPr>
          <a:xfrm>
            <a:off x="4373523" y="4103370"/>
            <a:ext cx="396954" cy="396954"/>
          </a:xfrm>
          <a:prstGeom prst="roundRect">
            <a:avLst>
              <a:gd name="adj" fmla="val 230354"/>
            </a:avLst>
          </a:prstGeom>
          <a:solidFill>
            <a:srgbClr val="1C9770"/>
          </a:solidFill>
          <a:ln/>
        </p:spPr>
      </p:sp>
      <p:sp>
        <p:nvSpPr>
          <p:cNvPr id="21" name="Text 18"/>
          <p:cNvSpPr/>
          <p:nvPr/>
        </p:nvSpPr>
        <p:spPr>
          <a:xfrm>
            <a:off x="4492585" y="4202549"/>
            <a:ext cx="158710" cy="198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10672" y="4632603"/>
            <a:ext cx="1654254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Lógica de Negocio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10672" y="4918591"/>
            <a:ext cx="7922657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Automatizar cálculos de fechas e IDs.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63153" y="5608677"/>
            <a:ext cx="8217694" cy="976074"/>
          </a:xfrm>
          <a:prstGeom prst="roundRect">
            <a:avLst>
              <a:gd name="adj" fmla="val 749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25" name="Shape 22"/>
          <p:cNvSpPr/>
          <p:nvPr/>
        </p:nvSpPr>
        <p:spPr>
          <a:xfrm>
            <a:off x="463153" y="5593437"/>
            <a:ext cx="8217694" cy="60960"/>
          </a:xfrm>
          <a:prstGeom prst="roundRect">
            <a:avLst>
              <a:gd name="adj" fmla="val 32566"/>
            </a:avLst>
          </a:prstGeom>
          <a:solidFill>
            <a:srgbClr val="1C9770"/>
          </a:solidFill>
          <a:ln/>
        </p:spPr>
      </p:sp>
      <p:sp>
        <p:nvSpPr>
          <p:cNvPr id="26" name="Shape 23"/>
          <p:cNvSpPr/>
          <p:nvPr/>
        </p:nvSpPr>
        <p:spPr>
          <a:xfrm>
            <a:off x="4373523" y="5410200"/>
            <a:ext cx="396954" cy="396954"/>
          </a:xfrm>
          <a:prstGeom prst="roundRect">
            <a:avLst>
              <a:gd name="adj" fmla="val 230354"/>
            </a:avLst>
          </a:prstGeom>
          <a:solidFill>
            <a:srgbClr val="1C9770"/>
          </a:solidFill>
          <a:ln/>
        </p:spPr>
      </p:sp>
      <p:sp>
        <p:nvSpPr>
          <p:cNvPr id="27" name="Text 24"/>
          <p:cNvSpPr/>
          <p:nvPr/>
        </p:nvSpPr>
        <p:spPr>
          <a:xfrm>
            <a:off x="4492585" y="5509379"/>
            <a:ext cx="158710" cy="198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10672" y="5939433"/>
            <a:ext cx="1654254" cy="20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Interfaz API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10672" y="6225421"/>
            <a:ext cx="7922657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Desarrollar una API para conexión externa.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63153" y="6783229"/>
            <a:ext cx="20677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Entorno de Desarrollo</a:t>
            </a:r>
            <a:endParaRPr lang="en-US" sz="1550" dirty="0"/>
          </a:p>
        </p:txBody>
      </p:sp>
      <p:sp>
        <p:nvSpPr>
          <p:cNvPr id="31" name="Text 28"/>
          <p:cNvSpPr/>
          <p:nvPr/>
        </p:nvSpPr>
        <p:spPr>
          <a:xfrm>
            <a:off x="463153" y="7229713"/>
            <a:ext cx="8217694" cy="42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 utilizó Docker para contenerización de Odoo y PostgreSQL, Visual Studio Code como IDE, y Postman/navegador para pruebas de API.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04925" y="671870"/>
            <a:ext cx="2310289" cy="357068"/>
          </a:xfrm>
          <a:prstGeom prst="roundRect">
            <a:avLst>
              <a:gd name="adj" fmla="val 6387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1418868" y="728782"/>
            <a:ext cx="2082403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DOCUMENTACIÓN TÉCNICA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304925" y="1104900"/>
            <a:ext cx="11192470" cy="593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Análisis del Sistema y Diseño de la Base de Datos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1304925" y="217384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Análisis del Sistema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04925" y="2720102"/>
            <a:ext cx="5778460" cy="1231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El sistema sigue una arquitectura Modelo-Vista-Controlador. Los usuarios del grupo "Library / User" tienen permisos ACL definidos en </a:t>
            </a:r>
            <a:r>
              <a:rPr lang="en-US" sz="14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ir.model.access.csv</a:t>
            </a: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para gestionar registros en los modelos principales.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635" y="4114800"/>
            <a:ext cx="5778460" cy="31790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54635" y="2173843"/>
            <a:ext cx="36864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Diseño de la Base de Datos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54635" y="2720102"/>
            <a:ext cx="5778460" cy="911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El diagrama ER muestra las relaciones entre Autor, Libro, Género, Préstamo y Socio, incluyendo una relación transitiva entre Autor y Libro.</a:t>
            </a:r>
            <a:endParaRPr lang="en-US" sz="145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43981C4-1C9B-48ED-9740-9243F637D5EC}"/>
              </a:ext>
            </a:extLst>
          </p:cNvPr>
          <p:cNvSpPr/>
          <p:nvPr/>
        </p:nvSpPr>
        <p:spPr>
          <a:xfrm>
            <a:off x="12404651" y="7428614"/>
            <a:ext cx="2225749" cy="7159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B15319C-7BC4-479F-AE46-8ECDCB79FD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925" y="4109287"/>
            <a:ext cx="5778460" cy="28018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65697" y="482560"/>
            <a:ext cx="1477685" cy="329803"/>
          </a:xfrm>
          <a:prstGeom prst="roundRect">
            <a:avLst>
              <a:gd name="adj" fmla="val 6385"/>
            </a:avLst>
          </a:prstGeom>
          <a:solidFill>
            <a:srgbClr val="D4F7EC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3" name="Text 1"/>
          <p:cNvSpPr/>
          <p:nvPr/>
        </p:nvSpPr>
        <p:spPr>
          <a:xfrm>
            <a:off x="1870948" y="535186"/>
            <a:ext cx="1267182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IMPLEMENTACIÓN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765697" y="882491"/>
            <a:ext cx="6944797" cy="54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Estructura del Módulo y Modelos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1765697" y="1694021"/>
            <a:ext cx="5461754" cy="5297210"/>
          </a:xfrm>
          <a:prstGeom prst="roundRect">
            <a:avLst>
              <a:gd name="adj" fmla="val 497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1941076" y="1869400"/>
            <a:ext cx="2193369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Scaffold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941076" y="2248733"/>
            <a:ext cx="5110996" cy="561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Generación automática de la estructura de directorios para el módulo, asegurando el reconocimiento por Odoo.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402830" y="1694021"/>
            <a:ext cx="5461873" cy="5297210"/>
          </a:xfrm>
          <a:prstGeom prst="roundRect">
            <a:avLst>
              <a:gd name="adj" fmla="val 497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7578209" y="1869400"/>
            <a:ext cx="2193369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Modelos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578209" y="2248733"/>
            <a:ext cx="5111115" cy="87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Todos los modelos (Autor, Libro, Género, Préstamo) están definidos en </a:t>
            </a:r>
            <a:r>
              <a:rPr lang="en-US" sz="13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incluyendo herencia del modelo </a:t>
            </a:r>
            <a:r>
              <a:rPr lang="en-US" sz="13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res.partner</a:t>
            </a: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para socios.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765697" y="7188637"/>
            <a:ext cx="11099006" cy="561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 implementaron campos calculados y restricciones en el modelo de préstamos para automatizar la duración, validar fechas y generar referencias únicas.</a:t>
            </a:r>
            <a:endParaRPr lang="en-US" sz="135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A97935A-EA7C-4BE4-848B-BEB9E616619D}"/>
              </a:ext>
            </a:extLst>
          </p:cNvPr>
          <p:cNvSpPr/>
          <p:nvPr/>
        </p:nvSpPr>
        <p:spPr>
          <a:xfrm>
            <a:off x="12404651" y="7428614"/>
            <a:ext cx="2225749" cy="7159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223" y="3121461"/>
            <a:ext cx="3834710" cy="354710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5588E814-3DF2-4BB9-BA3F-153C8D3F9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6578" y="2810232"/>
            <a:ext cx="4877241" cy="39241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09A5D40-DE91-4116-A63B-11CC8F81ADF7}"/>
              </a:ext>
            </a:extLst>
          </p:cNvPr>
          <p:cNvSpPr/>
          <p:nvPr/>
        </p:nvSpPr>
        <p:spPr>
          <a:xfrm>
            <a:off x="1765697" y="482560"/>
            <a:ext cx="1477685" cy="329803"/>
          </a:xfrm>
          <a:prstGeom prst="roundRect">
            <a:avLst>
              <a:gd name="adj" fmla="val 6385"/>
            </a:avLst>
          </a:prstGeom>
          <a:solidFill>
            <a:srgbClr val="D4F7EC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FB2FA48-8DF8-4A7E-937C-929152C16D83}"/>
              </a:ext>
            </a:extLst>
          </p:cNvPr>
          <p:cNvSpPr/>
          <p:nvPr/>
        </p:nvSpPr>
        <p:spPr>
          <a:xfrm>
            <a:off x="1870948" y="535186"/>
            <a:ext cx="1267182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IMPLEMENTACIÓN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27C580B-EF19-49CE-AA29-A945BE90A3CE}"/>
              </a:ext>
            </a:extLst>
          </p:cNvPr>
          <p:cNvSpPr/>
          <p:nvPr/>
        </p:nvSpPr>
        <p:spPr>
          <a:xfrm>
            <a:off x="1616841" y="898013"/>
            <a:ext cx="6944797" cy="54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 err="1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Algunos</a:t>
            </a:r>
            <a:r>
              <a:rPr lang="en-US" sz="3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</a:t>
            </a:r>
            <a:r>
              <a:rPr lang="en-US" sz="3450" dirty="0" err="1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Comandos</a:t>
            </a:r>
            <a:endParaRPr lang="en-US" sz="345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ECD0B70-D450-4E7E-98C0-D73F0AC96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686" y="2348470"/>
            <a:ext cx="6106377" cy="153373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E20D96F-2FE4-4D4B-B480-4D9FE80B4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95" y="5354801"/>
            <a:ext cx="7687748" cy="188621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6873140-8FF8-40A7-876B-8C726F6A3079}"/>
              </a:ext>
            </a:extLst>
          </p:cNvPr>
          <p:cNvSpPr txBox="1"/>
          <p:nvPr/>
        </p:nvSpPr>
        <p:spPr>
          <a:xfrm>
            <a:off x="1027814" y="1935126"/>
            <a:ext cx="2941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Para calcular día de Préstamo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FE7EAD3-5348-4D7B-AF28-DE97AF1E2F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8168" y="2304458"/>
            <a:ext cx="2069255" cy="16768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B6263AF0-F27D-4E1D-B39E-D3F50B706EA4}"/>
              </a:ext>
            </a:extLst>
          </p:cNvPr>
          <p:cNvSpPr txBox="1"/>
          <p:nvPr/>
        </p:nvSpPr>
        <p:spPr>
          <a:xfrm>
            <a:off x="10300019" y="1196462"/>
            <a:ext cx="32033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El número de días se mostrará automáticamente después de seleccionar la fecha.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E28F42A-93AD-4C6A-84B4-C08D3B609F07}"/>
              </a:ext>
            </a:extLst>
          </p:cNvPr>
          <p:cNvSpPr txBox="1"/>
          <p:nvPr/>
        </p:nvSpPr>
        <p:spPr>
          <a:xfrm>
            <a:off x="1226288" y="4883888"/>
            <a:ext cx="6864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Génera</a:t>
            </a:r>
            <a:r>
              <a:rPr lang="es-ES" dirty="0"/>
              <a:t> automáticamente un id, después de crear una nuevo préstamo 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EEBEEC6F-0BA1-4F10-A173-8C6C165B5E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6129" y="5106442"/>
            <a:ext cx="3904793" cy="2584174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0F3235D7-DB62-48B4-B188-E36A4AAAB061}"/>
              </a:ext>
            </a:extLst>
          </p:cNvPr>
          <p:cNvSpPr txBox="1"/>
          <p:nvPr/>
        </p:nvSpPr>
        <p:spPr>
          <a:xfrm>
            <a:off x="9852837" y="4692502"/>
            <a:ext cx="2450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Su código es LIB_COL_1 </a:t>
            </a:r>
          </a:p>
        </p:txBody>
      </p:sp>
    </p:spTree>
    <p:extLst>
      <p:ext uri="{BB962C8B-B14F-4D97-AF65-F5344CB8AC3E}">
        <p14:creationId xmlns:p14="http://schemas.microsoft.com/office/powerpoint/2010/main" val="2124084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70071" y="421243"/>
            <a:ext cx="1290757" cy="287893"/>
          </a:xfrm>
          <a:prstGeom prst="roundRect">
            <a:avLst>
              <a:gd name="adj" fmla="val 6386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2561987" y="467201"/>
            <a:ext cx="1106924" cy="195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IMPLEMENTACIÓN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470071" y="770334"/>
            <a:ext cx="3830003" cy="47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Vistas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470071" y="1631990"/>
            <a:ext cx="2298025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Vistas XML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470071" y="2072283"/>
            <a:ext cx="4658201" cy="750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Cada modelo (autor, libro, género, préstamo, socio) tiene su propio archivo XML en la carpeta </a:t>
            </a:r>
            <a:r>
              <a:rPr lang="en-US" sz="12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views</a:t>
            </a: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definiendo las vistas Tree, Form y Kanban.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363" y="421243"/>
            <a:ext cx="3329940" cy="1440180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3DDC0323-97F9-4357-B5E6-2D6D6490691C}"/>
              </a:ext>
            </a:extLst>
          </p:cNvPr>
          <p:cNvSpPr/>
          <p:nvPr/>
        </p:nvSpPr>
        <p:spPr>
          <a:xfrm>
            <a:off x="12404651" y="7428614"/>
            <a:ext cx="2225749" cy="7159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D6E5C89-F5E3-45DC-92D4-076FE80A7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858" y="770334"/>
            <a:ext cx="5201376" cy="222916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B3AFDB0B-4F6A-4949-AEC5-76D7E9C762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858" y="4211143"/>
            <a:ext cx="5296639" cy="297221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77A3CF38-2CB2-433F-8E48-ED0E4D8E07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903" y="3509960"/>
            <a:ext cx="7684107" cy="3793337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2DFE6790-69D1-4A60-B63A-FFC82D28930E}"/>
              </a:ext>
            </a:extLst>
          </p:cNvPr>
          <p:cNvSpPr txBox="1"/>
          <p:nvPr/>
        </p:nvSpPr>
        <p:spPr>
          <a:xfrm>
            <a:off x="545804" y="3140628"/>
            <a:ext cx="887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Kanban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ABF58E8-935E-4876-A481-69A35C8CEEF8}"/>
              </a:ext>
            </a:extLst>
          </p:cNvPr>
          <p:cNvSpPr txBox="1"/>
          <p:nvPr/>
        </p:nvSpPr>
        <p:spPr>
          <a:xfrm>
            <a:off x="9023497" y="340412"/>
            <a:ext cx="590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Tree</a:t>
            </a:r>
            <a:endParaRPr lang="es-ES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4C93FF6-AA6B-4D85-86F9-422B423BE73B}"/>
              </a:ext>
            </a:extLst>
          </p:cNvPr>
          <p:cNvSpPr txBox="1"/>
          <p:nvPr/>
        </p:nvSpPr>
        <p:spPr>
          <a:xfrm>
            <a:off x="9073116" y="3856074"/>
            <a:ext cx="673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Form</a:t>
            </a:r>
            <a:endParaRPr lang="es-E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6">
            <a:extLst>
              <a:ext uri="{FF2B5EF4-FFF2-40B4-BE49-F238E27FC236}">
                <a16:creationId xmlns:a16="http://schemas.microsoft.com/office/drawing/2014/main" id="{9AA519F4-C215-493F-8580-8050E688D07F}"/>
              </a:ext>
            </a:extLst>
          </p:cNvPr>
          <p:cNvSpPr/>
          <p:nvPr/>
        </p:nvSpPr>
        <p:spPr>
          <a:xfrm>
            <a:off x="966943" y="1540655"/>
            <a:ext cx="11515680" cy="750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 implementó una API para listar todos los libros, accesible en </a:t>
            </a:r>
            <a:r>
              <a:rPr lang="en-US" sz="16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http://localhost:8069/api/books</a:t>
            </a: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devolviendo datos en formato JSON.</a:t>
            </a:r>
            <a:endParaRPr lang="en-US" sz="1600" dirty="0"/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9ACF6FF8-E703-46F8-A480-FA24A4CD88A3}"/>
              </a:ext>
            </a:extLst>
          </p:cNvPr>
          <p:cNvSpPr/>
          <p:nvPr/>
        </p:nvSpPr>
        <p:spPr>
          <a:xfrm>
            <a:off x="8508971" y="2818046"/>
            <a:ext cx="4658201" cy="4642485"/>
          </a:xfrm>
          <a:prstGeom prst="roundRect">
            <a:avLst>
              <a:gd name="adj" fmla="val 495"/>
            </a:avLst>
          </a:prstGeom>
          <a:solidFill>
            <a:srgbClr val="F2F2F2"/>
          </a:solidFill>
          <a:ln/>
        </p:spPr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B89005EB-89E9-4756-ABD7-6F7A2B0CDA44}"/>
              </a:ext>
            </a:extLst>
          </p:cNvPr>
          <p:cNvSpPr/>
          <p:nvPr/>
        </p:nvSpPr>
        <p:spPr>
          <a:xfrm>
            <a:off x="8493731" y="2612405"/>
            <a:ext cx="4673441" cy="4642485"/>
          </a:xfrm>
          <a:prstGeom prst="roundRect">
            <a:avLst>
              <a:gd name="adj" fmla="val 495"/>
            </a:avLst>
          </a:prstGeom>
          <a:solidFill>
            <a:srgbClr val="F2F2F2"/>
          </a:solidFill>
          <a:ln/>
        </p:spPr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B4E641FB-16E3-4908-9F49-C88B731F2240}"/>
              </a:ext>
            </a:extLst>
          </p:cNvPr>
          <p:cNvSpPr/>
          <p:nvPr/>
        </p:nvSpPr>
        <p:spPr>
          <a:xfrm>
            <a:off x="8654465" y="2932942"/>
            <a:ext cx="4367213" cy="441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64646"/>
                </a:solidFill>
                <a:highlight>
                  <a:srgbClr val="F2F2F2"/>
                </a:highlight>
                <a:latin typeface="Arial" panose="020B0604020202020204" pitchFamily="34" charset="0"/>
                <a:ea typeface="Consolas Medium" pitchFamily="34" charset="-122"/>
                <a:cs typeface="Arial" panose="020B0604020202020204" pitchFamily="34" charset="0"/>
              </a:rPr>
              <a:t>{
 "status": 200,
 "data": [
 {
 "id": 1,
 "title": "libro1",
 "author": "Autor1",
 "state": "borrowed"
 },
 {
 "id": 2,
 "title": "Libro2",
 "author": "Autor2",
 "state": "available"
 }
 ]
}
</a:t>
            </a:r>
            <a:endParaRPr lang="en-US" sz="1200" dirty="0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038EC2DA-2A2B-4CE7-BC2A-B45F4C677149}"/>
              </a:ext>
            </a:extLst>
          </p:cNvPr>
          <p:cNvSpPr/>
          <p:nvPr/>
        </p:nvSpPr>
        <p:spPr>
          <a:xfrm>
            <a:off x="2515453" y="323254"/>
            <a:ext cx="1290757" cy="287893"/>
          </a:xfrm>
          <a:prstGeom prst="roundRect">
            <a:avLst>
              <a:gd name="adj" fmla="val 6386"/>
            </a:avLst>
          </a:prstGeom>
          <a:solidFill>
            <a:srgbClr val="D4F7EC"/>
          </a:solidFill>
          <a:ln/>
        </p:spPr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6E831BA0-62C5-4E71-8E5D-275B06C20A43}"/>
              </a:ext>
            </a:extLst>
          </p:cNvPr>
          <p:cNvSpPr/>
          <p:nvPr/>
        </p:nvSpPr>
        <p:spPr>
          <a:xfrm>
            <a:off x="2607369" y="369212"/>
            <a:ext cx="1106924" cy="195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IMPLEMENTACIÓN</a:t>
            </a:r>
            <a:endParaRPr lang="en-US" sz="95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70DFC451-F057-4DA1-A5A6-A9A2E5F6D9D8}"/>
              </a:ext>
            </a:extLst>
          </p:cNvPr>
          <p:cNvSpPr/>
          <p:nvPr/>
        </p:nvSpPr>
        <p:spPr>
          <a:xfrm>
            <a:off x="2515453" y="672345"/>
            <a:ext cx="3830003" cy="47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API REST</a:t>
            </a:r>
            <a:endParaRPr lang="en-US" sz="30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39A2933-7B9E-47D2-8AA3-796E1720C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943" y="2818046"/>
            <a:ext cx="6217760" cy="423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941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16198"/>
            <a:ext cx="3129082" cy="426244"/>
          </a:xfrm>
          <a:prstGeom prst="roundRect">
            <a:avLst>
              <a:gd name="adj" fmla="val 6386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084183"/>
            <a:ext cx="285690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PRUEBAS DE FUNCIONAMIENTO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533168"/>
            <a:ext cx="75685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Interfaz de Usuario en Odoo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5821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 aplicación "library_yubo" ofrece una interfaz intuitiva para gestionar libros, préstamos, autores, géneros y socios.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9971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Listado de Libros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648759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Vista detallada de libros con su título, autor y estado (prestado/disponible).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5235893" y="5997178"/>
            <a:ext cx="31188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Vista Kanban de Libros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235893" y="648759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Representación visual de los libros en formato Kanban para una gestión ágil.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9677995" y="5997178"/>
            <a:ext cx="30114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Gestión de Préstamos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48759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Registro y seguimiento de préstamos, incluyendo fechas y duración.</a:t>
            </a:r>
            <a:endParaRPr lang="en-US" sz="175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FCE8472-ADC3-4989-BC06-88169B418D9B}"/>
              </a:ext>
            </a:extLst>
          </p:cNvPr>
          <p:cNvSpPr/>
          <p:nvPr/>
        </p:nvSpPr>
        <p:spPr>
          <a:xfrm>
            <a:off x="12404651" y="7428614"/>
            <a:ext cx="2225749" cy="7159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3917DB5E-A987-4757-8032-B5FAD5706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69" y="3200162"/>
            <a:ext cx="3851303" cy="2300066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54DFE1F8-B460-476D-83E9-D236ED87A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1064" y="3081100"/>
            <a:ext cx="4463296" cy="2734057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02AE53ED-0DC5-47C8-9A14-3EF9472159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4" y="3064175"/>
            <a:ext cx="4339843" cy="26797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28442" y="311825"/>
            <a:ext cx="1108591" cy="213003"/>
          </a:xfrm>
          <a:prstGeom prst="roundRect">
            <a:avLst>
              <a:gd name="adj" fmla="val 6389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3796427" y="345758"/>
            <a:ext cx="972622" cy="145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MANUAL DE USUARIO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728442" y="570190"/>
            <a:ext cx="29870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Creación de Registros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009" y="835937"/>
            <a:ext cx="340162" cy="114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80518" y="835937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Crear Socio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580518" y="1081087"/>
            <a:ext cx="513496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 "Management", selecciona "Socios" y haz clic en "Nuevo" para añadir un nuevo miembro.</a:t>
            </a:r>
            <a:endParaRPr lang="en-US" sz="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0518" y="1390054"/>
            <a:ext cx="3611880" cy="213360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579" y="3881736"/>
            <a:ext cx="340162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60089" y="399508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Añadir Género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1660089" y="4240233"/>
            <a:ext cx="654986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Selecciona "Géneros" y "Nuevo" para introducir nuevas categorías de libros.</a:t>
            </a:r>
            <a:endParaRPr lang="en-US" sz="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0089" y="4549200"/>
            <a:ext cx="3108960" cy="2308860"/>
          </a:xfrm>
          <a:prstGeom prst="rect">
            <a:avLst/>
          </a:prstGeom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D94AA470-B48C-4C96-9EAD-450CE9ED3A40}"/>
              </a:ext>
            </a:extLst>
          </p:cNvPr>
          <p:cNvSpPr/>
          <p:nvPr/>
        </p:nvSpPr>
        <p:spPr>
          <a:xfrm>
            <a:off x="12404651" y="7428614"/>
            <a:ext cx="2225749" cy="7159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0D70B050-B359-4437-9660-FFAA8BF0FB82}"/>
              </a:ext>
            </a:extLst>
          </p:cNvPr>
          <p:cNvSpPr/>
          <p:nvPr/>
        </p:nvSpPr>
        <p:spPr>
          <a:xfrm>
            <a:off x="6124353" y="1993711"/>
            <a:ext cx="1609061" cy="571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1205A3F2-3619-41C5-8113-386A73CC3E6F}"/>
              </a:ext>
            </a:extLst>
          </p:cNvPr>
          <p:cNvSpPr/>
          <p:nvPr/>
        </p:nvSpPr>
        <p:spPr>
          <a:xfrm>
            <a:off x="6032205" y="5455537"/>
            <a:ext cx="1701209" cy="496186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589033BD-8671-4F70-B06A-7596773FC1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7453" y="1695773"/>
            <a:ext cx="5046368" cy="23080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7729D498-458C-4E93-9128-AA2BB3434CDC}"/>
              </a:ext>
            </a:extLst>
          </p:cNvPr>
          <p:cNvSpPr txBox="1"/>
          <p:nvPr/>
        </p:nvSpPr>
        <p:spPr>
          <a:xfrm>
            <a:off x="8321749" y="1182555"/>
            <a:ext cx="7315200" cy="253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Rellena los </a:t>
            </a:r>
            <a:r>
              <a:rPr lang="en-US" sz="85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datos</a:t>
            </a: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, y </a:t>
            </a:r>
            <a:r>
              <a:rPr lang="en-US" sz="85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haz</a:t>
            </a: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 </a:t>
            </a:r>
            <a:r>
              <a:rPr lang="en-US" sz="85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clic</a:t>
            </a: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 </a:t>
            </a:r>
            <a:r>
              <a:rPr lang="en-US" sz="85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en</a:t>
            </a: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 "Nuevo" para </a:t>
            </a:r>
            <a:r>
              <a:rPr lang="en-US" sz="85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añadir</a:t>
            </a: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 un nuevo socio.</a:t>
            </a: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793B55BE-D54D-46C7-A60F-1260CA3FD0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1160" y="5035384"/>
            <a:ext cx="3610479" cy="2114845"/>
          </a:xfrm>
          <a:prstGeom prst="rect">
            <a:avLst/>
          </a:prstGeom>
        </p:spPr>
      </p:pic>
      <p:sp>
        <p:nvSpPr>
          <p:cNvPr id="37" name="CuadroTexto 36">
            <a:extLst>
              <a:ext uri="{FF2B5EF4-FFF2-40B4-BE49-F238E27FC236}">
                <a16:creationId xmlns:a16="http://schemas.microsoft.com/office/drawing/2014/main" id="{50D04E5C-D34D-412B-B5AA-84FFBDBBEFC8}"/>
              </a:ext>
            </a:extLst>
          </p:cNvPr>
          <p:cNvSpPr txBox="1"/>
          <p:nvPr/>
        </p:nvSpPr>
        <p:spPr>
          <a:xfrm>
            <a:off x="8495051" y="4603615"/>
            <a:ext cx="7819200" cy="253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Rellena los </a:t>
            </a:r>
            <a:r>
              <a:rPr lang="en-US" sz="85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datos</a:t>
            </a: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, y </a:t>
            </a:r>
            <a:r>
              <a:rPr lang="en-US" sz="85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haz</a:t>
            </a: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 </a:t>
            </a:r>
            <a:r>
              <a:rPr lang="en-US" sz="85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clic</a:t>
            </a: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 </a:t>
            </a:r>
            <a:r>
              <a:rPr lang="en-US" sz="85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en</a:t>
            </a: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 "Nuevo" para </a:t>
            </a:r>
            <a:r>
              <a:rPr lang="en-US" sz="85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añadir</a:t>
            </a: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 un nuevo </a:t>
            </a:r>
            <a:r>
              <a:rPr lang="en-US" sz="85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género</a:t>
            </a: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58328" y="476131"/>
            <a:ext cx="1308973" cy="324088"/>
          </a:xfrm>
          <a:prstGeom prst="roundRect">
            <a:avLst>
              <a:gd name="adj" fmla="val 6389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1961793" y="527804"/>
            <a:ext cx="1102043" cy="220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CONCLUSIONES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858328" y="869156"/>
            <a:ext cx="7681793" cy="539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Aprendizajes y Futuras Ampliaciones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1858328" y="1666994"/>
            <a:ext cx="10913745" cy="551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El proyecto ha permitido profundizar en el funcionamiento interno de Odoo, cumpliendo los requisitos de ORM avanzado, campos computados, herencia de vistas y API REST.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858328" y="2413040"/>
            <a:ext cx="5370552" cy="4870252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35468" y="2413040"/>
            <a:ext cx="91440" cy="4870252"/>
          </a:xfrm>
          <a:prstGeom prst="roundRect">
            <a:avLst>
              <a:gd name="adj" fmla="val 28305"/>
            </a:avLst>
          </a:prstGeom>
          <a:solidFill>
            <a:srgbClr val="1C9770"/>
          </a:solidFill>
          <a:ln/>
        </p:spPr>
      </p:sp>
      <p:sp>
        <p:nvSpPr>
          <p:cNvPr id="8" name="Text 6"/>
          <p:cNvSpPr/>
          <p:nvPr/>
        </p:nvSpPr>
        <p:spPr>
          <a:xfrm>
            <a:off x="2122289" y="2608421"/>
            <a:ext cx="2156817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Despliegue Local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2122289" y="2981563"/>
            <a:ext cx="4911209" cy="551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El despliegue se realizó en un servidor local utilizando Docker para Odoo, PostgreSQL y pgAdmin4.</a:t>
            </a:r>
            <a:endParaRPr lang="en-US" sz="13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289" y="3727609"/>
            <a:ext cx="4911209" cy="336030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401401" y="2413040"/>
            <a:ext cx="5370671" cy="4870252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78541" y="2413040"/>
            <a:ext cx="91440" cy="4870252"/>
          </a:xfrm>
          <a:prstGeom prst="roundRect">
            <a:avLst>
              <a:gd name="adj" fmla="val 28305"/>
            </a:avLst>
          </a:prstGeom>
          <a:solidFill>
            <a:srgbClr val="1C9770"/>
          </a:solidFill>
          <a:ln/>
        </p:spPr>
      </p:sp>
      <p:sp>
        <p:nvSpPr>
          <p:cNvPr id="13" name="Text 10"/>
          <p:cNvSpPr/>
          <p:nvPr/>
        </p:nvSpPr>
        <p:spPr>
          <a:xfrm>
            <a:off x="7665363" y="2608421"/>
            <a:ext cx="2877145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Mantenimiento y Expansión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665363" y="2981563"/>
            <a:ext cx="4911328" cy="551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 estructura modular del código facilita su mantenimiento y futuras ampliaciones.</a:t>
            </a:r>
            <a:endParaRPr lang="en-US" sz="13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5363" y="3727609"/>
            <a:ext cx="4911328" cy="336030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58328" y="7477363"/>
            <a:ext cx="10913745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Este proyecto sienta las bases para futuras mejoras y funcionalidades en la gestión de bibliotecas con Odoo.</a:t>
            </a:r>
            <a:endParaRPr lang="en-US" sz="135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77E7925-8D7E-4C41-BE7C-3DBA35A91423}"/>
              </a:ext>
            </a:extLst>
          </p:cNvPr>
          <p:cNvSpPr/>
          <p:nvPr/>
        </p:nvSpPr>
        <p:spPr>
          <a:xfrm>
            <a:off x="12404651" y="7428614"/>
            <a:ext cx="2225749" cy="7159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893</Words>
  <Application>Microsoft Office PowerPoint</Application>
  <PresentationFormat>Personalizado</PresentationFormat>
  <Paragraphs>99</Paragraphs>
  <Slides>12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DM Sans Semi Bold</vt:lpstr>
      <vt:lpstr>Arial</vt:lpstr>
      <vt:lpstr>Inter Medium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lastModifiedBy>YUBO LIN</cp:lastModifiedBy>
  <cp:revision>8</cp:revision>
  <dcterms:created xsi:type="dcterms:W3CDTF">2026-01-19T11:33:26Z</dcterms:created>
  <dcterms:modified xsi:type="dcterms:W3CDTF">2026-01-19T12:48:33Z</dcterms:modified>
</cp:coreProperties>
</file>